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96" r:id="rId3"/>
    <p:sldId id="305" r:id="rId4"/>
    <p:sldId id="306" r:id="rId5"/>
    <p:sldId id="307" r:id="rId6"/>
    <p:sldId id="308" r:id="rId7"/>
    <p:sldId id="309" r:id="rId8"/>
    <p:sldId id="310" r:id="rId9"/>
    <p:sldId id="311" r:id="rId10"/>
    <p:sldId id="312" r:id="rId11"/>
    <p:sldId id="314" r:id="rId12"/>
    <p:sldId id="313" r:id="rId14"/>
    <p:sldId id="316" r:id="rId15"/>
    <p:sldId id="317" r:id="rId16"/>
    <p:sldId id="318" r:id="rId17"/>
    <p:sldId id="319" r:id="rId18"/>
    <p:sldId id="320" r:id="rId19"/>
    <p:sldId id="323" r:id="rId20"/>
    <p:sldId id="324" r:id="rId21"/>
    <p:sldId id="325" r:id="rId22"/>
    <p:sldId id="321" r:id="rId23"/>
    <p:sldId id="322" r:id="rId24"/>
    <p:sldId id="335" r:id="rId25"/>
    <p:sldId id="333" r:id="rId26"/>
    <p:sldId id="334" r:id="rId27"/>
    <p:sldId id="336" r:id="rId28"/>
    <p:sldId id="326" r:id="rId29"/>
    <p:sldId id="327" r:id="rId30"/>
    <p:sldId id="329" r:id="rId31"/>
    <p:sldId id="330" r:id="rId32"/>
    <p:sldId id="332" r:id="rId33"/>
    <p:sldId id="331" r:id="rId34"/>
    <p:sldId id="29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46" autoAdjust="0"/>
    <p:restoredTop sz="94660"/>
  </p:normalViewPr>
  <p:slideViewPr>
    <p:cSldViewPr showGuides="1">
      <p:cViewPr varScale="1">
        <p:scale>
          <a:sx n="78" d="100"/>
          <a:sy n="78" d="100"/>
        </p:scale>
        <p:origin x="1819"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endParaRPr kumimoji="0" lang="en-US"/>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2365" cy="1411605"/>
          </a:xfrm>
        </p:spPr>
        <p:txBody>
          <a:bodyPr>
            <a:noAutofit/>
          </a:bodyPr>
          <a:lstStyle/>
          <a:p>
            <a:pPr algn="ctr"/>
            <a:r>
              <a:rPr lang="en-US" sz="3700" b="1" dirty="0">
                <a:latin typeface="Times New Roman" panose="02020603050405020304" pitchFamily="18" charset="0"/>
                <a:cs typeface="Times New Roman" panose="02020603050405020304" pitchFamily="18" charset="0"/>
              </a:rPr>
              <a:t>HygionX - </a:t>
            </a:r>
            <a:r>
              <a:rPr lang="en-US" sz="3400" b="1" dirty="0">
                <a:latin typeface="Times New Roman" panose="02020603050405020304" pitchFamily="18" charset="0"/>
                <a:cs typeface="Times New Roman" panose="02020603050405020304" pitchFamily="18" charset="0"/>
              </a:rPr>
              <a:t>Bridging Artificial Intelligence        	 &amp; Explainable Medicine</a:t>
            </a:r>
            <a:endParaRPr lang="en-US" sz="3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52400" y="1626235"/>
            <a:ext cx="8763000" cy="5009515"/>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5600" b="1" dirty="0"/>
              <a:t>By</a:t>
            </a:r>
            <a:endParaRPr lang="en-US" dirty="0"/>
          </a:p>
          <a:p>
            <a:pPr algn="just">
              <a:buNone/>
            </a:pPr>
            <a:r>
              <a:rPr lang="en-US" sz="5600" b="1">
                <a:latin typeface="Times New Roman" panose="02020603050405020304" pitchFamily="18" charset="0"/>
                <a:cs typeface="Times New Roman" panose="02020603050405020304" pitchFamily="18" charset="0"/>
              </a:rPr>
              <a:t>                                                              </a:t>
            </a:r>
            <a:r>
              <a:rPr lang="en-US" sz="6000" b="1" dirty="0">
                <a:cs typeface="+mn-lt"/>
              </a:rPr>
              <a:t>VAIDYAM LAKSHMI NIHANTH</a:t>
            </a:r>
            <a:r>
              <a:rPr lang="en-US" sz="6000" b="1" dirty="0">
                <a:latin typeface="Times New Roman" panose="02020603050405020304" pitchFamily="18" charset="0"/>
                <a:cs typeface="Times New Roman" panose="02020603050405020304" pitchFamily="18" charset="0"/>
              </a:rPr>
              <a:t> (22BFA33139)</a:t>
            </a:r>
            <a:endParaRPr lang="en-US" sz="6000"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 KANDARI MONISHA</a:t>
            </a:r>
            <a:r>
              <a:rPr lang="en-US" sz="6000" b="1" dirty="0">
                <a:latin typeface="Times New Roman" panose="02020603050405020304" pitchFamily="18" charset="0"/>
                <a:cs typeface="Times New Roman" panose="02020603050405020304" pitchFamily="18" charset="0"/>
              </a:rPr>
              <a:t> (22BFA33110)</a:t>
            </a:r>
            <a:endParaRPr lang="en-US" sz="6000" b="1"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KUNCHIPALLI CHANDU</a:t>
            </a:r>
            <a:r>
              <a:rPr lang="en-US" sz="6000" b="1" dirty="0">
                <a:latin typeface="Times New Roman" panose="02020603050405020304" pitchFamily="18" charset="0"/>
                <a:cs typeface="Times New Roman" panose="02020603050405020304" pitchFamily="18" charset="0"/>
              </a:rPr>
              <a:t> (22BFA33118)</a:t>
            </a:r>
            <a:endParaRPr lang="en-US" sz="6000"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GIRIRAJU MEHER JAGRUTHI</a:t>
            </a:r>
            <a:r>
              <a:rPr lang="en-US" sz="6000" b="1" dirty="0">
                <a:latin typeface="Times New Roman" panose="02020603050405020304" pitchFamily="18" charset="0"/>
                <a:cs typeface="Times New Roman" panose="02020603050405020304" pitchFamily="18" charset="0"/>
              </a:rPr>
              <a:t> (22BFA33087)</a:t>
            </a:r>
            <a:endParaRPr lang="en-US" sz="6000" b="1" dirty="0">
              <a:latin typeface="Times New Roman" panose="02020603050405020304" pitchFamily="18" charset="0"/>
              <a:cs typeface="Times New Roman" panose="02020603050405020304" pitchFamily="18" charset="0"/>
            </a:endParaRPr>
          </a:p>
          <a:p>
            <a:pPr algn="just">
              <a:buNone/>
            </a:pPr>
            <a:endParaRPr lang="en-US" sz="6400" dirty="0">
              <a:latin typeface="Times New Roman" panose="02020603050405020304" pitchFamily="18" charset="0"/>
              <a:cs typeface="Times New Roman" panose="02020603050405020304" pitchFamily="18" charset="0"/>
            </a:endParaRPr>
          </a:p>
          <a:p>
            <a:pPr algn="ctr">
              <a:buNone/>
            </a:pPr>
            <a:r>
              <a:rPr lang="en-US" sz="6400" b="1" dirty="0">
                <a:latin typeface="Times New Roman" panose="02020603050405020304" pitchFamily="18" charset="0"/>
                <a:cs typeface="Times New Roman" panose="02020603050405020304" pitchFamily="18" charset="0"/>
              </a:rPr>
              <a:t>Under the guidance of</a:t>
            </a:r>
            <a:endParaRPr lang="en-US" sz="6400" dirty="0">
              <a:latin typeface="Times New Roman" panose="02020603050405020304" pitchFamily="18" charset="0"/>
              <a:cs typeface="Times New Roman" panose="02020603050405020304" pitchFamily="18" charset="0"/>
            </a:endParaRPr>
          </a:p>
          <a:p>
            <a:pPr algn="ctr">
              <a:buNone/>
            </a:pPr>
            <a:r>
              <a:rPr lang="en-US" sz="6400" b="1" dirty="0">
                <a:latin typeface="Times New Roman" panose="02020603050405020304" pitchFamily="18" charset="0"/>
                <a:cs typeface="Times New Roman" panose="02020603050405020304" pitchFamily="18" charset="0"/>
              </a:rPr>
              <a:t>Dr </a:t>
            </a:r>
            <a:r>
              <a:rPr lang="en-US" sz="6400" b="1" dirty="0">
                <a:cs typeface="+mn-lt"/>
              </a:rPr>
              <a:t>P. LOKESH KUMAR REDDY</a:t>
            </a:r>
            <a:r>
              <a:rPr lang="en-US" sz="6400" b="1" dirty="0">
                <a:latin typeface="Times New Roman" panose="02020603050405020304" pitchFamily="18" charset="0"/>
                <a:cs typeface="Times New Roman" panose="02020603050405020304" pitchFamily="18" charset="0"/>
              </a:rPr>
              <a:t> (Ph.D)</a:t>
            </a: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sz="3800" b="1" dirty="0">
              <a:latin typeface="Times New Roman" panose="02020603050405020304" pitchFamily="18" charset="0"/>
              <a:cs typeface="Times New Roman" panose="02020603050405020304" pitchFamily="18" charset="0"/>
            </a:endParaRPr>
          </a:p>
          <a:p>
            <a:pPr algn="ctr">
              <a:buNone/>
            </a:pPr>
            <a:endParaRPr lang="en-US" sz="3800" b="1" dirty="0">
              <a:latin typeface="Times New Roman" panose="02020603050405020304" pitchFamily="18" charset="0"/>
              <a:cs typeface="Times New Roman" panose="02020603050405020304" pitchFamily="18" charset="0"/>
            </a:endParaRPr>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endParaRPr lang="en-US" sz="7200" b="1"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(Autonomous)</a:t>
            </a:r>
            <a:endParaRPr lang="en-US" sz="5600"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Karakambadi Road, Tirupati-517507</a:t>
            </a:r>
            <a:endParaRPr lang="en-US" sz="5600"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2022-2026</a:t>
            </a:r>
            <a:endParaRPr lang="en-US" sz="5600" dirty="0">
              <a:latin typeface="Times New Roman" panose="02020603050405020304" pitchFamily="18" charset="0"/>
              <a:cs typeface="Times New Roman" panose="02020603050405020304" pitchFamily="18" charset="0"/>
            </a:endParaRPr>
          </a:p>
          <a:p>
            <a:endParaRPr lang="en-US" dirty="0"/>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67150" y="38862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OUTLINE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648" y="1600200"/>
            <a:ext cx="8153400" cy="4724400"/>
          </a:xfrm>
        </p:spPr>
        <p:txBody>
          <a:bodyPr>
            <a:normAutofit fontScale="60000"/>
          </a:bodyPr>
          <a:lstStyle/>
          <a:p>
            <a:r>
              <a:rPr lang="en-US" sz="2600" dirty="0">
                <a:latin typeface="Times New Roman" panose="02020603050405020304" pitchFamily="18" charset="0"/>
                <a:cs typeface="Times New Roman" panose="02020603050405020304" pitchFamily="18" charset="0"/>
              </a:rPr>
              <a:t>Abstract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Introduction</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Problem  Statement </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Existing system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Disadvantages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Proposed system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Advantages</a:t>
            </a:r>
            <a:endParaRPr 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Software Requirements</a:t>
            </a:r>
            <a:endParaRPr 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Hardware </a:t>
            </a:r>
            <a:r>
              <a:rPr lang="en-US" sz="2600" dirty="0">
                <a:latin typeface="Times New Roman" panose="02020603050405020304" pitchFamily="18" charset="0"/>
                <a:cs typeface="Times New Roman" panose="02020603050405020304" pitchFamily="18" charset="0"/>
              </a:rPr>
              <a:t>Requirements</a:t>
            </a:r>
            <a:endParaRPr 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System Architecture</a:t>
            </a:r>
            <a:endParaRPr lang="en-IN" alt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Modules</a:t>
            </a:r>
            <a:endParaRPr lang="en-IN" altLang="en-US" sz="2600" dirty="0">
              <a:latin typeface="Times New Roman" panose="02020603050405020304" pitchFamily="18" charset="0"/>
              <a:cs typeface="Times New Roman" panose="02020603050405020304" pitchFamily="18" charset="0"/>
            </a:endParaRPr>
          </a:p>
          <a:p>
            <a:r>
              <a:rPr lang="en-US" altLang="en-IN" sz="2600" dirty="0">
                <a:latin typeface="Times New Roman" panose="02020603050405020304" pitchFamily="18" charset="0"/>
                <a:cs typeface="Times New Roman" panose="02020603050405020304" pitchFamily="18" charset="0"/>
              </a:rPr>
              <a:t>UML Diagrams</a:t>
            </a:r>
            <a:endParaRPr lang="en-IN" alt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Output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Future Scope</a:t>
            </a: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775" y="1600200"/>
            <a:ext cx="8153400" cy="4771390"/>
          </a:xfrm>
        </p:spPr>
        <p:txBody>
          <a:bodyPr>
            <a:noAutofit/>
          </a:bodyPr>
          <a:lstStyle/>
          <a:p>
            <a:pPr algn="just"/>
            <a:r>
              <a:rPr lang="en-US" altLang="en-IN" sz="2100" dirty="0">
                <a:latin typeface="Times New Roman" panose="02020603050405020304" pitchFamily="18" charset="0"/>
                <a:cs typeface="Times New Roman" panose="02020603050405020304" pitchFamily="18" charset="0"/>
              </a:rPr>
              <a:t>This project presents an AI-powered healthcare chatbot designed to deliver fast, personalized medical support using Natural Language Processing and Machine Learning. Ths system interprets user queries, performs preliminary symptom analysis, and provides suitable recommendations while ensuring explainability for transparent decision-making. Using intent classification, entity recognition, and a curated medical knowledge base, the chatbot generates accurate and context-aware responses. It also has a secure patient record module enables tracking of health history and previous consultations. The system also integrates with external APIs for appointment scheduling, medication reminders, and also follow-up notifications. Overall, this project demonstrates the potential of AI, healthcare informatics, and automation to enhance telemedicine, along with a unique touch of explainability, preventive care, and patient engagement within modern digital healthcare ecosystems.</a:t>
            </a:r>
            <a:endParaRPr lang="en-US" altLang="en-IN"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533400" y="1600200"/>
            <a:ext cx="8382000" cy="4820920"/>
          </a:xfrm>
        </p:spPr>
        <p:txBody>
          <a:bodyPr>
            <a:noAutofit/>
          </a:bodyPr>
          <a:lstStyle/>
          <a:p>
            <a:pPr algn="just"/>
            <a:r>
              <a:rPr lang="en-US" sz="2100" dirty="0">
                <a:latin typeface="Times New Roman" panose="02020603050405020304" pitchFamily="18" charset="0"/>
                <a:cs typeface="Times New Roman" panose="02020603050405020304" pitchFamily="18" charset="0"/>
              </a:rPr>
              <a:t>Healthcare access is often slow and inconsistent, making it difficult for patients to receive timely guidance for common symptoms.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Traditional support systems lack personalization, leading to generic advice and limited continuity of care.</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The project HygionX provides an AI-driven solution that uses NLP, ML, and Explainability to analyze symptoms and deliver accurate, transparent medical guidance.</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This approach makes healthcare faster, personalized, and more accessible, improving telemedicine and overall patient engagement.</a:t>
            </a:r>
            <a:endParaRPr lang="en-US" sz="2100" dirty="0">
              <a:latin typeface="Times New Roman" panose="02020603050405020304" pitchFamily="18" charset="0"/>
              <a:cs typeface="Times New Roman" panose="02020603050405020304" pitchFamily="18" charset="0"/>
            </a:endParaRPr>
          </a:p>
          <a:p>
            <a:pPr algn="just"/>
            <a:r>
              <a:rPr lang="en-US" altLang="en-GB" sz="2100" dirty="0">
                <a:latin typeface="Times New Roman" panose="02020603050405020304" pitchFamily="18" charset="0"/>
                <a:cs typeface="Times New Roman" panose="02020603050405020304" pitchFamily="18" charset="0"/>
              </a:rPr>
              <a:t>The system supports personalized health insights by leveraging patient history and previous interactions to deliver more relevant and context-aware recommendations</a:t>
            </a:r>
            <a:endParaRPr lang="en-US" altLang="en-GB" sz="2100" dirty="0">
              <a:latin typeface="Times New Roman" panose="02020603050405020304" pitchFamily="18" charset="0"/>
              <a:cs typeface="Times New Roman" panose="02020603050405020304" pitchFamily="18" charset="0"/>
            </a:endParaRPr>
          </a:p>
          <a:p>
            <a:pPr marL="0" indent="0" algn="just">
              <a:buNone/>
            </a:pP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sz="quarter" idx="1"/>
          </p:nvPr>
        </p:nvSpPr>
        <p:spPr bwMode="auto">
          <a:xfrm>
            <a:off x="307848" y="1676162"/>
            <a:ext cx="8763000" cy="4939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healthcare chatbots do not consider patient medical history, leading to incomplete or generic responses.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systems provide answers without explainability, creating trust issues for users.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also struggle with complex or rare medical cases, and cannot guide users reliably in such situations.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of the existing chatbots donot predict the triage efficiently, leading to a gap in medical analysis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there is a need for a chatbot that offers personalized, explainable, and history-aware medical support, bridging the gaps in existing solutions.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648" y="1676400"/>
            <a:ext cx="8153400" cy="4495800"/>
          </a:xfrm>
        </p:spPr>
        <p:txBody>
          <a:bodyPr>
            <a:noAutofit/>
          </a:bodyPr>
          <a:lstStyle/>
          <a:p>
            <a:pPr algn="just"/>
            <a:r>
              <a:rPr lang="en-US" sz="2100" dirty="0">
                <a:latin typeface="Times New Roman" panose="02020603050405020304" pitchFamily="18" charset="0"/>
                <a:cs typeface="Times New Roman" panose="02020603050405020304" pitchFamily="18" charset="0"/>
              </a:rPr>
              <a:t>Current healthcare chatbots such as Babylon Health, Buoy Health, and Ada Health mainly focus on general symptom c</a:t>
            </a:r>
            <a:r>
              <a:rPr lang="en-IN" altLang="en-US" sz="2100" dirty="0">
                <a:latin typeface="Times New Roman" panose="02020603050405020304" pitchFamily="18" charset="0"/>
                <a:cs typeface="Times New Roman" panose="02020603050405020304" pitchFamily="18" charset="0"/>
              </a:rPr>
              <a:t>h</a:t>
            </a:r>
            <a:r>
              <a:rPr lang="en-US" sz="2100" dirty="0">
                <a:latin typeface="Times New Roman" panose="02020603050405020304" pitchFamily="18" charset="0"/>
                <a:cs typeface="Times New Roman" panose="02020603050405020304" pitchFamily="18" charset="0"/>
              </a:rPr>
              <a:t>ecking, while platforms like Wysa, Woebot, and Replika provide emotional or mental-health support. Similarly, bots like Florence and Molly assist users with medication reminders and chronic condition management, and hospital-specific chatbots from institutions like the Mayo Clinic and Cleaveland Clinic offer basic medical guidance for their patients. However, these systems largely rely on static question-answer flows and do not integrate a user’s complete medical history while generating responses. Most existing chatbots operate reactively, responding only when asked, and lack features such as multilingual support, deep personalization, or transparent explainability of their answers. As a result they often struggle with complex or rare medical cases, and fail to establish the trust due to limited reasoning visibility and weak integration with patient records or healthcare systems.</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gn="just"/>
            <a:r>
              <a:rPr lang="en-US" sz="2100" dirty="0">
                <a:latin typeface="Times New Roman" panose="02020603050405020304" pitchFamily="18" charset="0"/>
                <a:cs typeface="Times New Roman" panose="02020603050405020304" pitchFamily="18" charset="0"/>
              </a:rPr>
              <a:t>Uses basic symptom matching without considering the deeper medical context.</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Limited adaptation to individual patient differences.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No continuous patient profile or long-term memory.</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Reasoning behind responses is not clearly explained.</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Accuracy drops for complex or rare medical cases.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Language support is restricted, reducing accessibility.</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Weak integration with hospitals or medical systems.</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PROPOSED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775" y="1752600"/>
            <a:ext cx="8153400" cy="4843145"/>
          </a:xfrm>
        </p:spPr>
        <p:txBody>
          <a:bodyPr>
            <a:normAutofit lnSpcReduction="20000"/>
          </a:bodyPr>
          <a:lstStyle/>
          <a:p>
            <a:pPr algn="just"/>
            <a:r>
              <a:rPr lang="en-US" sz="2335" dirty="0">
                <a:latin typeface="Times New Roman" panose="02020603050405020304" pitchFamily="18" charset="0"/>
                <a:cs typeface="Times New Roman" panose="02020603050405020304" pitchFamily="18" charset="0"/>
              </a:rPr>
              <a:t>The proposed system introduces </a:t>
            </a:r>
            <a:r>
              <a:rPr lang="en-US" sz="2335" b="1" dirty="0">
                <a:latin typeface="Times New Roman" panose="02020603050405020304" pitchFamily="18" charset="0"/>
                <a:cs typeface="Times New Roman" panose="02020603050405020304" pitchFamily="18" charset="0"/>
              </a:rPr>
              <a:t>HygionX, </a:t>
            </a:r>
            <a:r>
              <a:rPr lang="en-US" sz="2335" dirty="0">
                <a:latin typeface="Times New Roman" panose="02020603050405020304" pitchFamily="18" charset="0"/>
                <a:cs typeface="Times New Roman" panose="02020603050405020304" pitchFamily="18" charset="0"/>
              </a:rPr>
              <a:t>an AI-powered healthcare chatbot that combines user medical history with real-time symptom inputs to deliver personalized and reliable guidance. </a:t>
            </a:r>
            <a:r>
              <a:rPr lang="en-IN" altLang="en-US" sz="2335" dirty="0">
                <a:latin typeface="Times New Roman" panose="02020603050405020304" pitchFamily="18" charset="0"/>
                <a:cs typeface="Times New Roman" panose="02020603050405020304" pitchFamily="18" charset="0"/>
              </a:rPr>
              <a:t>It uses HuggingFace transformers like MiniLM for sentence transformations and SciSpacy NER transformer for efficient symptom recognition. And the system acts by predefined secure rules with preprocessed data, return a JSON output.</a:t>
            </a:r>
            <a:r>
              <a:rPr lang="en-US" sz="2335" dirty="0">
                <a:latin typeface="Times New Roman" panose="02020603050405020304" pitchFamily="18" charset="0"/>
                <a:cs typeface="Times New Roman" panose="02020603050405020304" pitchFamily="18" charset="0"/>
              </a:rPr>
              <a:t> A s</a:t>
            </a:r>
            <a:r>
              <a:rPr lang="en-IN" altLang="en-US" sz="2335" dirty="0">
                <a:latin typeface="Times New Roman" panose="02020603050405020304" pitchFamily="18" charset="0"/>
                <a:cs typeface="Times New Roman" panose="02020603050405020304" pitchFamily="18" charset="0"/>
              </a:rPr>
              <a:t>e</a:t>
            </a:r>
            <a:r>
              <a:rPr lang="en-US" sz="2335" dirty="0">
                <a:latin typeface="Times New Roman" panose="02020603050405020304" pitchFamily="18" charset="0"/>
                <a:cs typeface="Times New Roman" panose="02020603050405020304" pitchFamily="18" charset="0"/>
              </a:rPr>
              <a:t>cure </a:t>
            </a:r>
            <a:r>
              <a:rPr lang="en-IN" altLang="en-US" sz="2335" dirty="0">
                <a:latin typeface="Times New Roman" panose="02020603050405020304" pitchFamily="18" charset="0"/>
                <a:cs typeface="Times New Roman" panose="02020603050405020304" pitchFamily="18" charset="0"/>
              </a:rPr>
              <a:t>My</a:t>
            </a:r>
            <a:r>
              <a:rPr lang="en-US" sz="2335" dirty="0">
                <a:latin typeface="Times New Roman" panose="02020603050405020304" pitchFamily="18" charset="0"/>
                <a:cs typeface="Times New Roman" panose="02020603050405020304" pitchFamily="18" charset="0"/>
              </a:rPr>
              <a:t>SQL database maintains user profiles and past records, enabling continuity across sessions. The system incorporates </a:t>
            </a:r>
            <a:r>
              <a:rPr lang="en-US" sz="2335" b="1" dirty="0">
                <a:latin typeface="Times New Roman" panose="02020603050405020304" pitchFamily="18" charset="0"/>
                <a:cs typeface="Times New Roman" panose="02020603050405020304" pitchFamily="18" charset="0"/>
              </a:rPr>
              <a:t> </a:t>
            </a:r>
            <a:r>
              <a:rPr lang="en-US" sz="2335" dirty="0">
                <a:latin typeface="Times New Roman" panose="02020603050405020304" pitchFamily="18" charset="0"/>
                <a:cs typeface="Times New Roman" panose="02020603050405020304" pitchFamily="18" charset="0"/>
              </a:rPr>
              <a:t>to highlight important</a:t>
            </a:r>
            <a:r>
              <a:rPr lang="en-US" sz="2335" b="1" dirty="0">
                <a:latin typeface="Times New Roman" panose="02020603050405020304" pitchFamily="18" charset="0"/>
                <a:cs typeface="Times New Roman" panose="02020603050405020304" pitchFamily="18" charset="0"/>
              </a:rPr>
              <a:t> </a:t>
            </a:r>
            <a:r>
              <a:rPr lang="en-US" sz="2335" dirty="0">
                <a:latin typeface="Times New Roman" panose="02020603050405020304" pitchFamily="18" charset="0"/>
                <a:cs typeface="Times New Roman" panose="02020603050405020304" pitchFamily="18" charset="0"/>
              </a:rPr>
              <a:t>factors, reasoning, and confidence levels behind every prediction, improving trasparency and trust. HygionX also aims to </a:t>
            </a:r>
            <a:r>
              <a:rPr lang="en-IN" altLang="en-US" sz="2335" dirty="0">
                <a:latin typeface="Times New Roman" panose="02020603050405020304" pitchFamily="18" charset="0"/>
                <a:cs typeface="Times New Roman" panose="02020603050405020304" pitchFamily="18" charset="0"/>
              </a:rPr>
              <a:t>support accurate disease prediction using pre trained models</a:t>
            </a:r>
            <a:r>
              <a:rPr lang="en-US" sz="2335" dirty="0">
                <a:latin typeface="Times New Roman" panose="02020603050405020304" pitchFamily="18" charset="0"/>
                <a:cs typeface="Times New Roman" panose="02020603050405020304" pitchFamily="18" charset="0"/>
              </a:rPr>
              <a:t>, update user history after each session, and </a:t>
            </a:r>
            <a:r>
              <a:rPr lang="en-IN" altLang="en-US" sz="2335" dirty="0">
                <a:latin typeface="Times New Roman" panose="02020603050405020304" pitchFamily="18" charset="0"/>
                <a:cs typeface="Times New Roman" panose="02020603050405020304" pitchFamily="18" charset="0"/>
              </a:rPr>
              <a:t>also </a:t>
            </a:r>
            <a:r>
              <a:rPr lang="en-US" sz="2335" dirty="0">
                <a:latin typeface="Times New Roman" panose="02020603050405020304" pitchFamily="18" charset="0"/>
                <a:cs typeface="Times New Roman" panose="02020603050405020304" pitchFamily="18" charset="0"/>
              </a:rPr>
              <a:t>trigger a “consult doctor” recommendation when confidence falls below a threshold, ensuring safe and responsible usage.</a:t>
            </a:r>
            <a:endParaRPr lang="en-US" sz="2335"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sz="quarter" idx="1"/>
          </p:nvPr>
        </p:nvSpPr>
        <p:spPr bwMode="auto">
          <a:xfrm>
            <a:off x="612775" y="1039495"/>
            <a:ext cx="6228080"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medical guidance</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History-aware responses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and transparent outputs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accuracy in answers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 confidence-based suggestions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user data updates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 of updation of user data</a:t>
            </a:r>
            <a:endPar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Secured user data in efficient databases</a:t>
            </a:r>
            <a:endPar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Firebase Authentication</a:t>
            </a:r>
            <a:endPar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SOFTWARE 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8470" y="1638300"/>
            <a:ext cx="8472805" cy="4766945"/>
          </a:xfrm>
        </p:spPr>
        <p:txBody>
          <a:bodyPr>
            <a:normAutofit lnSpcReduction="20000"/>
          </a:bodyPr>
          <a:lstStyle/>
          <a:p>
            <a:pPr marL="0" lvl="0" indent="0">
              <a:buNone/>
            </a:pPr>
            <a:r>
              <a:rPr lang="en-US" sz="2300" dirty="0">
                <a:latin typeface="Times New Roman" panose="02020603050405020304" pitchFamily="18" charset="0"/>
                <a:cs typeface="Times New Roman" panose="02020603050405020304" pitchFamily="18" charset="0"/>
              </a:rPr>
              <a:t>Operating System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Windows 10/11</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Browser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Google Chrome/ Firefox</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Programming language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Python</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sym typeface="+mn-ea"/>
              </a:rPr>
              <a:t>Frontend 	                  </a:t>
            </a:r>
            <a:r>
              <a:rPr lang="en-IN" altLang="en-US" sz="2300" dirty="0">
                <a:latin typeface="Times New Roman" panose="02020603050405020304" pitchFamily="18" charset="0"/>
                <a:cs typeface="Times New Roman" panose="02020603050405020304" pitchFamily="18" charset="0"/>
                <a:sym typeface="+mn-ea"/>
              </a:rPr>
              <a:t>  </a:t>
            </a:r>
            <a:r>
              <a:rPr lang="en-US" sz="2300" b="1" dirty="0">
                <a:latin typeface="Times New Roman" panose="02020603050405020304" pitchFamily="18" charset="0"/>
                <a:cs typeface="Times New Roman" panose="02020603050405020304" pitchFamily="18" charset="0"/>
                <a:sym typeface="+mn-ea"/>
              </a:rPr>
              <a:t>:</a:t>
            </a:r>
            <a:r>
              <a:rPr lang="en-US" sz="2300" dirty="0">
                <a:latin typeface="Times New Roman" panose="02020603050405020304" pitchFamily="18" charset="0"/>
                <a:cs typeface="Times New Roman" panose="02020603050405020304" pitchFamily="18" charset="0"/>
                <a:sym typeface="+mn-ea"/>
              </a:rPr>
              <a:t> HTML, CSS, </a:t>
            </a:r>
            <a:r>
              <a:rPr lang="en-IN" altLang="en-US" sz="2300" dirty="0">
                <a:latin typeface="Times New Roman" panose="02020603050405020304" pitchFamily="18" charset="0"/>
                <a:cs typeface="Times New Roman" panose="02020603050405020304" pitchFamily="18" charset="0"/>
                <a:sym typeface="+mn-ea"/>
              </a:rPr>
              <a:t>JS</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Backend Framework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Flask</a:t>
            </a:r>
            <a:r>
              <a:rPr lang="en-IN" altLang="en-US" sz="2300" dirty="0">
                <a:latin typeface="Times New Roman" panose="02020603050405020304" pitchFamily="18" charset="0"/>
                <a:cs typeface="Times New Roman" panose="02020603050405020304" pitchFamily="18" charset="0"/>
              </a:rPr>
              <a:t> (REST API)</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Databases 		    </a:t>
            </a:r>
            <a:r>
              <a:rPr lang="en-IN" alt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MySQL - user recor</a:t>
            </a:r>
            <a:r>
              <a:rPr lang="en-IN" altLang="en-US" sz="2300" dirty="0">
                <a:latin typeface="Times New Roman" panose="02020603050405020304" pitchFamily="18" charset="0"/>
                <a:cs typeface="Times New Roman" panose="02020603050405020304" pitchFamily="18" charset="0"/>
              </a:rPr>
              <a:t>ds</a:t>
            </a:r>
            <a:endParaRPr lang="en-IN" altLang="en-US" sz="2300" dirty="0">
              <a:latin typeface="Times New Roman" panose="02020603050405020304" pitchFamily="18" charset="0"/>
              <a:cs typeface="Times New Roman" panose="02020603050405020304" pitchFamily="18" charset="0"/>
            </a:endParaRPr>
          </a:p>
          <a:p>
            <a:pPr marL="0" lvl="0" indent="0">
              <a:buNone/>
            </a:pPr>
            <a:r>
              <a:rPr lang="en-IN" altLang="en-US" sz="2300" dirty="0">
                <a:latin typeface="Times New Roman" panose="02020603050405020304" pitchFamily="18" charset="0"/>
                <a:cs typeface="Times New Roman" panose="02020603050405020304" pitchFamily="18" charset="0"/>
              </a:rPr>
              <a:t>Authentication 		        </a:t>
            </a:r>
            <a:r>
              <a:rPr lang="en-IN" altLang="en-US" sz="2300" b="1" dirty="0">
                <a:latin typeface="Times New Roman" panose="02020603050405020304" pitchFamily="18" charset="0"/>
                <a:cs typeface="Times New Roman" panose="02020603050405020304" pitchFamily="18" charset="0"/>
              </a:rPr>
              <a:t>: </a:t>
            </a:r>
            <a:r>
              <a:rPr lang="en-IN" altLang="en-US" sz="2300" dirty="0">
                <a:latin typeface="Times New Roman" panose="02020603050405020304" pitchFamily="18" charset="0"/>
                <a:cs typeface="Times New Roman" panose="02020603050405020304" pitchFamily="18" charset="0"/>
              </a:rPr>
              <a:t>Firebase</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NLP/ML Libraries   	    </a:t>
            </a:r>
            <a:r>
              <a:rPr lang="en-IN" alt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PyTorch, HuggingFace Transformers</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Development Tools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VS Code, Google Colab, Jupyter </a:t>
            </a:r>
            <a:r>
              <a:rPr lang="en-IN" altLang="en-US"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Notebook</a:t>
            </a:r>
            <a:endParaRPr lang="en-US" sz="2300" dirty="0">
              <a:latin typeface="Times New Roman" panose="02020603050405020304" pitchFamily="18" charset="0"/>
              <a:cs typeface="Times New Roman" panose="02020603050405020304" pitchFamily="18" charset="0"/>
            </a:endParaRPr>
          </a:p>
          <a:p>
            <a:pPr marL="0" lvl="0" indent="0">
              <a:buNone/>
            </a:pPr>
            <a:r>
              <a:rPr lang="en-IN" altLang="en-US" sz="2300" dirty="0">
                <a:latin typeface="Times New Roman" panose="02020603050405020304" pitchFamily="18" charset="0"/>
                <a:cs typeface="Times New Roman" panose="02020603050405020304" pitchFamily="18" charset="0"/>
              </a:rPr>
              <a:t>Version Control                    </a:t>
            </a:r>
            <a:r>
              <a:rPr lang="en-IN" altLang="en-US" sz="2300" b="1" dirty="0">
                <a:latin typeface="Times New Roman" panose="02020603050405020304" pitchFamily="18" charset="0"/>
                <a:cs typeface="Times New Roman" panose="02020603050405020304" pitchFamily="18" charset="0"/>
              </a:rPr>
              <a:t>: </a:t>
            </a:r>
            <a:r>
              <a:rPr lang="en-IN" altLang="en-US" sz="2300" dirty="0">
                <a:latin typeface="Times New Roman" panose="02020603050405020304" pitchFamily="18" charset="0"/>
                <a:cs typeface="Times New Roman" panose="02020603050405020304" pitchFamily="18" charset="0"/>
              </a:rPr>
              <a:t>Git, GitHub</a:t>
            </a:r>
            <a:endParaRPr lang="en-IN" altLang="en-US" sz="23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HARDWARE </a:t>
            </a:r>
            <a:r>
              <a:rPr lang="en-US" dirty="0">
                <a:latin typeface="Times New Roman" panose="02020603050405020304" pitchFamily="18" charset="0"/>
                <a:cs typeface="Times New Roman" panose="02020603050405020304" pitchFamily="18" charset="0"/>
              </a:rPr>
              <a:t>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254000" y="1600200"/>
            <a:ext cx="8644890" cy="4495800"/>
          </a:xfrm>
        </p:spPr>
        <p:txBody>
          <a:bodyPr>
            <a:normAutofit/>
          </a:bodyPr>
          <a:lstStyle/>
          <a:p>
            <a:pPr marL="0" lvl="0" indent="0">
              <a:buNone/>
            </a:pPr>
            <a:r>
              <a:rPr lang="en-US" sz="2400" dirty="0">
                <a:latin typeface="Times New Roman" panose="02020603050405020304" pitchFamily="18" charset="0"/>
                <a:cs typeface="Times New Roman" panose="02020603050405020304" pitchFamily="18" charset="0"/>
              </a:rPr>
              <a:t>    Processor       </a:t>
            </a:r>
            <a:r>
              <a:rPr lang="en-US"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sym typeface="+mn-ea"/>
              </a:rPr>
              <a:t>Intel Core 2 Duo / i3 Processor (1.8 GHz or higher)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RAM              </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4GB minimum (8GB recommended)</a:t>
            </a: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    Hard disk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20 GB or more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Display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Standard HD Monitor</a:t>
            </a: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sym typeface="+mn-ea"/>
              </a:rPr>
              <a:t>Keyboard</a:t>
            </a:r>
            <a:r>
              <a:rPr lang="en-IN" sz="2400" b="1" dirty="0">
                <a:latin typeface="Times New Roman" panose="02020603050405020304" pitchFamily="18" charset="0"/>
                <a:cs typeface="Times New Roman" panose="02020603050405020304" pitchFamily="18" charset="0"/>
                <a:sym typeface="+mn-ea"/>
              </a:rPr>
              <a:t> </a:t>
            </a:r>
            <a:r>
              <a:rPr lang="en-US" altLang="en-IN" sz="2400" b="1" dirty="0">
                <a:latin typeface="Times New Roman" panose="02020603050405020304" pitchFamily="18" charset="0"/>
                <a:cs typeface="Times New Roman" panose="02020603050405020304" pitchFamily="18" charset="0"/>
                <a:sym typeface="+mn-ea"/>
              </a:rPr>
              <a:t>      </a:t>
            </a:r>
            <a:r>
              <a:rPr lang="en-IN" sz="2400" b="1"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Standard 104-keys keyboard</a:t>
            </a:r>
            <a:br>
              <a:rPr lang="en-IN" sz="2400" dirty="0">
                <a:latin typeface="Times New Roman" panose="02020603050405020304" pitchFamily="18" charset="0"/>
                <a:cs typeface="Times New Roman" panose="02020603050405020304" pitchFamily="18" charset="0"/>
                <a:sym typeface="+mn-ea"/>
              </a:rPr>
            </a:br>
            <a:r>
              <a:rPr lang="en-IN" sz="2400" dirty="0">
                <a:latin typeface="Times New Roman" panose="02020603050405020304" pitchFamily="18" charset="0"/>
                <a:cs typeface="Times New Roman" panose="02020603050405020304" pitchFamily="18" charset="0"/>
                <a:sym typeface="+mn-ea"/>
              </a:rPr>
              <a:t>    Mouse      </a:t>
            </a:r>
            <a:r>
              <a:rPr lang="en-US" altLang="en-IN" sz="2400" dirty="0">
                <a:latin typeface="Times New Roman" panose="02020603050405020304" pitchFamily="18" charset="0"/>
                <a:cs typeface="Times New Roman" panose="02020603050405020304" pitchFamily="18" charset="0"/>
                <a:sym typeface="+mn-ea"/>
              </a:rPr>
              <a:t>      </a:t>
            </a:r>
            <a:r>
              <a:rPr lang="en-IN" sz="2400" b="1" dirty="0">
                <a:latin typeface="Times New Roman" panose="02020603050405020304" pitchFamily="18" charset="0"/>
                <a:cs typeface="Times New Roman" panose="02020603050405020304" pitchFamily="18" charset="0"/>
                <a:sym typeface="+mn-ea"/>
              </a:rPr>
              <a:t>: </a:t>
            </a:r>
            <a:r>
              <a:rPr lang="en-IN" sz="2400" dirty="0">
                <a:latin typeface="Times New Roman" panose="02020603050405020304" pitchFamily="18" charset="0"/>
                <a:cs typeface="Times New Roman" panose="02020603050405020304" pitchFamily="18" charset="0"/>
                <a:sym typeface="+mn-ea"/>
              </a:rPr>
              <a:t> Optical mouse</a:t>
            </a: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    Internet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Stable broadband connection </a:t>
            </a:r>
            <a:endParaRPr lang="en-US" sz="2400" dirty="0"/>
          </a:p>
        </p:txBody>
      </p:sp>
    </p:spTree>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SYSTEM ARCHITECTURE</a:t>
            </a:r>
            <a:endParaRPr lang="en-IN" altLang="en-GB"/>
          </a:p>
        </p:txBody>
      </p:sp>
      <p:pic>
        <p:nvPicPr>
          <p:cNvPr id="4" name="Content Placeholder 3" descr="diagram-export-3-20-2026-7_14_46-AM"/>
          <p:cNvPicPr>
            <a:picLocks noChangeAspect="1"/>
          </p:cNvPicPr>
          <p:nvPr>
            <p:ph sz="quarter" idx="1"/>
          </p:nvPr>
        </p:nvPicPr>
        <p:blipFill>
          <a:blip r:embed="rId1"/>
          <a:stretch>
            <a:fillRect/>
          </a:stretch>
        </p:blipFill>
        <p:spPr>
          <a:xfrm>
            <a:off x="224790" y="1600200"/>
            <a:ext cx="8735060" cy="5118735"/>
          </a:xfrm>
          <a:prstGeom prst="rect">
            <a:avLst/>
          </a:prstGeom>
        </p:spPr>
      </p:pic>
    </p:spTree>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SYSTEM ARCHITECTURE</a:t>
            </a:r>
            <a:endParaRPr lang="en-IN" altLang="en-GB"/>
          </a:p>
        </p:txBody>
      </p:sp>
      <p:sp>
        <p:nvSpPr>
          <p:cNvPr id="3" name="Content Placeholder 2"/>
          <p:cNvSpPr>
            <a:spLocks noGrp="1"/>
          </p:cNvSpPr>
          <p:nvPr>
            <p:ph sz="quarter" idx="1"/>
          </p:nvPr>
        </p:nvSpPr>
        <p:spPr/>
        <p:txBody>
          <a:bodyPr>
            <a:noAutofit/>
          </a:bodyPr>
          <a:p>
            <a:r>
              <a:rPr lang="en-US" altLang="en-GB" sz="1900"/>
              <a:t>The system follows a modular client-server architecture, separating the user interface, backend processing, and data storage layers to ensure scalability and maintainability.</a:t>
            </a:r>
            <a:endParaRPr lang="en-US" altLang="en-GB" sz="1900"/>
          </a:p>
          <a:p>
            <a:r>
              <a:rPr lang="en-US" altLang="en-GB" sz="1900"/>
              <a:t>The application provides a web-based chat interface for user interaction, with secure authentication and user management handled through Firebase Authentication.</a:t>
            </a:r>
            <a:endParaRPr lang="en-US" altLang="en-GB" sz="1900"/>
          </a:p>
          <a:p>
            <a:r>
              <a:rPr lang="en-US" altLang="en-GB" sz="1900"/>
              <a:t>A Flask-based backend API manages request handling, session management, and communication between system components, enabling smooth data flow.</a:t>
            </a:r>
            <a:endParaRPr lang="en-US" altLang="en-GB" sz="1900"/>
          </a:p>
          <a:p>
            <a:r>
              <a:rPr lang="en-US" altLang="en-GB" sz="1900"/>
              <a:t>The core Healthcare Intelligence Engine processes user inputs using NLP and ML techniques, including symptom extraction and triage logic for severity assessment and risk classification.</a:t>
            </a:r>
            <a:endParaRPr lang="en-US" altLang="en-GB" sz="1900"/>
          </a:p>
          <a:p>
            <a:r>
              <a:rPr lang="en-US" altLang="en-GB" sz="1900"/>
              <a:t>User data, chat history, detected symptoms, and triage results are stored in a structured SQL database, while external services such as knowledge retrieval APIs and optional LLM modules enhance system functionality and responses.</a:t>
            </a:r>
            <a:endParaRPr lang="en-US" altLang="en-GB" sz="1900"/>
          </a:p>
        </p:txBody>
      </p:sp>
    </p:spTree>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MODULES</a:t>
            </a:r>
            <a:endParaRPr lang="en-IN" altLang="en-GB"/>
          </a:p>
        </p:txBody>
      </p:sp>
      <p:sp>
        <p:nvSpPr>
          <p:cNvPr id="3" name="Content Placeholder 2"/>
          <p:cNvSpPr>
            <a:spLocks noGrp="1"/>
          </p:cNvSpPr>
          <p:nvPr>
            <p:ph sz="quarter" idx="1"/>
          </p:nvPr>
        </p:nvSpPr>
        <p:spPr/>
        <p:txBody>
          <a:bodyPr/>
          <a:p>
            <a:r>
              <a:rPr lang="en-IN" altLang="en-GB"/>
              <a:t>User Module</a:t>
            </a:r>
            <a:endParaRPr lang="en-IN" altLang="en-GB"/>
          </a:p>
          <a:p>
            <a:r>
              <a:rPr lang="en-IN" altLang="en-GB"/>
              <a:t>Admin Module</a:t>
            </a:r>
            <a:endParaRPr lang="en-IN" altLang="en-GB"/>
          </a:p>
          <a:p>
            <a:r>
              <a:rPr lang="en-IN" altLang="en-GB"/>
              <a:t>Authentication &amp; User Management Module</a:t>
            </a:r>
            <a:endParaRPr lang="en-IN" altLang="en-GB"/>
          </a:p>
          <a:p>
            <a:r>
              <a:rPr lang="en-IN" altLang="en-GB"/>
              <a:t>Conversation &amp; Session Management Module</a:t>
            </a:r>
            <a:endParaRPr lang="en-IN" altLang="en-GB"/>
          </a:p>
          <a:p>
            <a:r>
              <a:rPr lang="en-IN" altLang="en-GB"/>
              <a:t>Knowledge Retrieval Module</a:t>
            </a:r>
            <a:endParaRPr lang="en-IN" altLang="en-GB"/>
          </a:p>
          <a:p>
            <a:r>
              <a:rPr lang="en-IN" altLang="en-GB"/>
              <a:t>Healthcare Intelligence Engine Module</a:t>
            </a:r>
            <a:endParaRPr lang="en-IN" altLang="en-GB"/>
          </a:p>
          <a:p>
            <a:r>
              <a:rPr lang="en-IN" altLang="en-GB"/>
              <a:t>Database &amp; Infrastructure Module</a:t>
            </a:r>
            <a:endParaRPr lang="en-IN" altLang="en-GB"/>
          </a:p>
        </p:txBody>
      </p:sp>
    </p:spTree>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US" sz="2300" b="1" u="sng"/>
              <a:t>User Module</a:t>
            </a:r>
            <a:r>
              <a:rPr lang="en-IN" altLang="en-US" sz="2300"/>
              <a:t>:</a:t>
            </a:r>
            <a:endParaRPr lang="en-IN" altLang="en-US" sz="2300"/>
          </a:p>
          <a:p>
            <a:pPr marL="0" indent="0">
              <a:buNone/>
            </a:pPr>
            <a:r>
              <a:rPr lang="en-IN" altLang="en-US" sz="2300"/>
              <a:t>          </a:t>
            </a:r>
            <a:r>
              <a:rPr lang="en-US" altLang="en-GB" sz="2300"/>
              <a:t>The User Module allows patients to interact with the HygionX system through a web-based chat interface. Users can register and login securely to access the platform. They can enter symptoms in natural language and receive AI-generated healthcare guidance. The module also displays responses with explanations and suggested actions. Additionally, users can view past interactions and manage basic profile information. This ensures a smooth and personalized user experience.</a:t>
            </a:r>
            <a:endParaRPr lang="en-US" altLang="en-GB" sz="2300"/>
          </a:p>
        </p:txBody>
      </p:sp>
    </p:spTree>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t>Admin Module</a:t>
            </a:r>
            <a:r>
              <a:rPr lang="en-IN" altLang="en-GB"/>
              <a:t>:</a:t>
            </a:r>
            <a:endParaRPr lang="en-IN" altLang="en-GB"/>
          </a:p>
          <a:p>
            <a:pPr marL="0" indent="0">
              <a:buNone/>
            </a:pPr>
            <a:r>
              <a:rPr lang="en-IN" altLang="en-US" sz="2300"/>
              <a:t>            </a:t>
            </a:r>
            <a:r>
              <a:rPr lang="en-US" altLang="en-GB" sz="2300"/>
              <a:t>The Admin Module is responsible for managing and monitoring the overall system operations. It allows administrators to oversee user activity and system performance. The module helps in maintaining datasets, configurations, and backend services. It ensures that the system runs efficiently without disruptions. It also supports monitoring of stored medical data and system outputs. This contributes to reliability and proper system maintenance.</a:t>
            </a:r>
            <a:endParaRPr lang="en-US" altLang="en-GB" sz="2300"/>
          </a:p>
        </p:txBody>
      </p:sp>
    </p:spTree>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normAutofit/>
          </a:bodyPr>
          <a:p>
            <a:r>
              <a:rPr lang="en-IN" altLang="en-GB" sz="2300" b="1" u="sng">
                <a:sym typeface="+mn-ea"/>
              </a:rPr>
              <a:t>Authentication &amp; User Management Module</a:t>
            </a:r>
            <a:r>
              <a:rPr lang="en-IN" altLang="en-GB" sz="2300">
                <a:sym typeface="+mn-ea"/>
              </a:rPr>
              <a:t>:</a:t>
            </a:r>
            <a:endParaRPr lang="en-IN" altLang="en-GB" sz="2300"/>
          </a:p>
          <a:p>
            <a:pPr marL="0" indent="0">
              <a:buNone/>
            </a:pPr>
            <a:r>
              <a:rPr lang="en-IN" altLang="en-US" sz="2300">
                <a:sym typeface="+mn-ea"/>
              </a:rPr>
              <a:t>            </a:t>
            </a:r>
            <a:r>
              <a:rPr lang="en-US" altLang="en-GB" sz="2300"/>
              <a:t>This module handles secure user authentication and account management. It enables users to register and login using a secure authentication system. User details such as name, age, gender, and known conditions are stored safely. The module ensures proper access control and protects user data. It also supports personalized experiences based on user profiles. This improves both security and usability of the platform.</a:t>
            </a:r>
            <a:endParaRPr lang="en-US" altLang="en-GB" sz="2300"/>
          </a:p>
          <a:p>
            <a:endParaRPr lang="en-US" altLang="en-GB" sz="2300"/>
          </a:p>
        </p:txBody>
      </p:sp>
    </p:spTree>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t>Conversation &amp; Session Management Module</a:t>
            </a:r>
            <a:endParaRPr lang="en-IN" altLang="en-GB" sz="2300" b="1" u="sng"/>
          </a:p>
          <a:p>
            <a:pPr marL="0" indent="0">
              <a:buNone/>
            </a:pPr>
            <a:r>
              <a:rPr lang="en-IN" altLang="en-GB" sz="2300"/>
              <a:t>        </a:t>
            </a:r>
            <a:r>
              <a:rPr lang="en-US" altLang="en-GB" sz="2300"/>
              <a:t>This module manages the entire interaction flow between the user and the system. It maintains session continuity by storing chat history and context. Each message is recorded and linked to a session for better tracking. The module keeps track of detected symptoms across multiple messages. It ensures that follow-up questions are relevant and meaningful. This improves the accuracy and consistency of responses.</a:t>
            </a:r>
            <a:endParaRPr lang="en-US" altLang="en-GB" sz="2300"/>
          </a:p>
        </p:txBody>
      </p:sp>
    </p:spTree>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normAutofit/>
          </a:bodyPr>
          <a:p>
            <a:r>
              <a:rPr lang="en-IN" altLang="en-GB" sz="2300" b="1" u="sng"/>
              <a:t>Knowledge Retrieval Module</a:t>
            </a:r>
            <a:endParaRPr lang="en-IN" altLang="en-GB" sz="2300" b="1" u="sng"/>
          </a:p>
          <a:p>
            <a:pPr marL="0" indent="0">
              <a:buNone/>
            </a:pPr>
            <a:r>
              <a:rPr lang="en-IN" altLang="en-GB" sz="2300"/>
              <a:t>        </a:t>
            </a:r>
            <a:r>
              <a:rPr lang="en-US" altLang="en-GB" sz="2300"/>
              <a:t>The Knowledge Retrieval Module provides additional medical information to users. It retrieves disease-related details from external sources such as medical databases or APIs. The module presents this information in a simplified and user-friendly format. It helps users understand conditions beyond just predictions. It also enhances the overall learning experience for the user. This makes the system more informative and supportive.</a:t>
            </a:r>
            <a:endParaRPr lang="en-US" altLang="en-GB" sz="2300"/>
          </a:p>
        </p:txBody>
      </p:sp>
    </p:spTree>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sym typeface="+mn-ea"/>
              </a:rPr>
              <a:t>Healthcare Intelligence Engine</a:t>
            </a:r>
            <a:r>
              <a:rPr lang="en-IN" altLang="en-GB">
                <a:sym typeface="+mn-ea"/>
              </a:rPr>
              <a:t>:</a:t>
            </a:r>
            <a:endParaRPr lang="en-IN" altLang="en-GB"/>
          </a:p>
          <a:p>
            <a:pPr marL="0" indent="0">
              <a:buNone/>
            </a:pPr>
            <a:r>
              <a:rPr lang="en-IN" altLang="en-US">
                <a:sym typeface="+mn-ea"/>
              </a:rPr>
              <a:t>            </a:t>
            </a:r>
            <a:r>
              <a:rPr lang="en-US" altLang="en-GB" sz="2300"/>
              <a:t>This is the core AI-driven component of the HygionX system. It processes user input using NLP techniques to extract relevant symptoms. The module analyzes severity levels and identifies possible conditions. It generates risk classifications such as low, moderate, or high. It also provides recommended actions and basic explanations for the results. This ensures accurate, explainable, and useful healthcare guidance.</a:t>
            </a:r>
            <a:endParaRPr lang="en-US" altLang="en-GB" sz="2300"/>
          </a:p>
        </p:txBody>
      </p:sp>
    </p:spTree>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sym typeface="+mn-ea"/>
              </a:rPr>
              <a:t>Database &amp;  Infrastructure Module</a:t>
            </a:r>
            <a:r>
              <a:rPr lang="en-IN" altLang="en-GB">
                <a:sym typeface="+mn-ea"/>
              </a:rPr>
              <a:t>:</a:t>
            </a:r>
            <a:endParaRPr lang="en-IN" altLang="en-GB"/>
          </a:p>
          <a:p>
            <a:pPr marL="0" indent="0">
              <a:buNone/>
            </a:pPr>
            <a:r>
              <a:rPr lang="en-IN" altLang="en-US" sz="2300"/>
              <a:t>            </a:t>
            </a:r>
            <a:r>
              <a:rPr lang="en-US" altLang="en-GB" sz="2300"/>
              <a:t>This module is responsible for handling data storage and system infrastructure. It stores user profiles, chat history, detected symptoms, and triage results. The system uses a structured database to maintain consistency and reliability. It supports efficient retrieval of past data for continuity. The architecture is designed to handle failures gracefully without breaking the system. This ensures scalability, stability, and long-term usability.</a:t>
            </a:r>
            <a:endParaRPr lang="en-US" altLang="en-GB" sz="2300"/>
          </a:p>
        </p:txBody>
      </p:sp>
    </p:spTree>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activity diagram"/>
          <p:cNvPicPr>
            <a:picLocks noChangeAspect="1"/>
          </p:cNvPicPr>
          <p:nvPr>
            <p:ph sz="quarter" idx="1"/>
          </p:nvPr>
        </p:nvPicPr>
        <p:blipFill>
          <a:blip r:embed="rId1"/>
          <a:stretch>
            <a:fillRect/>
          </a:stretch>
        </p:blipFill>
        <p:spPr>
          <a:xfrm>
            <a:off x="460375" y="1600200"/>
            <a:ext cx="8399145" cy="4905375"/>
          </a:xfrm>
          <a:prstGeom prst="rect">
            <a:avLst/>
          </a:prstGeom>
        </p:spPr>
      </p:pic>
    </p:spTree>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component diagram"/>
          <p:cNvPicPr>
            <a:picLocks noChangeAspect="1"/>
          </p:cNvPicPr>
          <p:nvPr>
            <p:ph sz="quarter" idx="1"/>
          </p:nvPr>
        </p:nvPicPr>
        <p:blipFill>
          <a:blip r:embed="rId1"/>
          <a:stretch>
            <a:fillRect/>
          </a:stretch>
        </p:blipFill>
        <p:spPr>
          <a:xfrm>
            <a:off x="796925" y="1676400"/>
            <a:ext cx="7672705" cy="4784090"/>
          </a:xfrm>
          <a:prstGeom prst="rect">
            <a:avLst/>
          </a:prstGeom>
        </p:spPr>
      </p:pic>
    </p:spTree>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class diagram"/>
          <p:cNvPicPr>
            <a:picLocks noChangeAspect="1"/>
          </p:cNvPicPr>
          <p:nvPr>
            <p:ph sz="quarter" idx="1"/>
          </p:nvPr>
        </p:nvPicPr>
        <p:blipFill>
          <a:blip r:embed="rId1"/>
          <a:stretch>
            <a:fillRect/>
          </a:stretch>
        </p:blipFill>
        <p:spPr>
          <a:xfrm>
            <a:off x="958215" y="1600200"/>
            <a:ext cx="7272020" cy="4876165"/>
          </a:xfrm>
          <a:prstGeom prst="rect">
            <a:avLst/>
          </a:prstGeom>
        </p:spPr>
      </p:pic>
    </p:spTree>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sequence diagram"/>
          <p:cNvPicPr>
            <a:picLocks noChangeAspect="1"/>
          </p:cNvPicPr>
          <p:nvPr>
            <p:ph sz="quarter" idx="1"/>
          </p:nvPr>
        </p:nvPicPr>
        <p:blipFill>
          <a:blip r:embed="rId1"/>
          <a:stretch>
            <a:fillRect/>
          </a:stretch>
        </p:blipFill>
        <p:spPr>
          <a:xfrm>
            <a:off x="478155" y="1600200"/>
            <a:ext cx="7957185" cy="5120640"/>
          </a:xfrm>
          <a:prstGeom prst="rect">
            <a:avLst/>
          </a:prstGeom>
        </p:spPr>
      </p:pic>
    </p:spTree>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OUTPUT</a:t>
            </a:r>
            <a:endParaRPr lang="en-IN" altLang="en-GB"/>
          </a:p>
        </p:txBody>
      </p:sp>
      <p:pic>
        <p:nvPicPr>
          <p:cNvPr id="7" name="Content Placeholder 6"/>
          <p:cNvPicPr>
            <a:picLocks noChangeAspect="1"/>
          </p:cNvPicPr>
          <p:nvPr>
            <p:ph sz="quarter" idx="1"/>
          </p:nvPr>
        </p:nvPicPr>
        <p:blipFill>
          <a:blip r:embed="rId1"/>
          <a:stretch>
            <a:fillRect/>
          </a:stretch>
        </p:blipFill>
        <p:spPr>
          <a:xfrm>
            <a:off x="228600" y="2052955"/>
            <a:ext cx="8689975" cy="4699000"/>
          </a:xfrm>
          <a:prstGeom prst="rect">
            <a:avLst/>
          </a:prstGeom>
        </p:spPr>
      </p:pic>
      <p:sp>
        <p:nvSpPr>
          <p:cNvPr id="3" name="Text Box 2"/>
          <p:cNvSpPr txBox="1"/>
          <p:nvPr/>
        </p:nvSpPr>
        <p:spPr>
          <a:xfrm>
            <a:off x="304800" y="1524000"/>
            <a:ext cx="3048000" cy="398780"/>
          </a:xfrm>
          <a:prstGeom prst="rect">
            <a:avLst/>
          </a:prstGeom>
          <a:noFill/>
        </p:spPr>
        <p:txBody>
          <a:bodyPr wrap="square" rtlCol="0">
            <a:spAutoFit/>
          </a:bodyPr>
          <a:p>
            <a:r>
              <a:rPr lang="en-US" altLang="en-GB" sz="2000" b="1"/>
              <a:t>Landing Page</a:t>
            </a:r>
            <a:endParaRPr lang="en-US" altLang="en-GB" sz="2000" b="1"/>
          </a:p>
        </p:txBody>
      </p:sp>
    </p:spTree>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IN" altLang="en-GB"/>
              <a:t>OUTPUT</a:t>
            </a:r>
            <a:endParaRPr lang="en-IN" altLang="en-GB"/>
          </a:p>
        </p:txBody>
      </p:sp>
      <p:pic>
        <p:nvPicPr>
          <p:cNvPr id="4" name="Content Placeholder 3"/>
          <p:cNvPicPr>
            <a:picLocks noChangeAspect="1"/>
          </p:cNvPicPr>
          <p:nvPr>
            <p:ph sz="quarter" idx="1"/>
          </p:nvPr>
        </p:nvPicPr>
        <p:blipFill>
          <a:blip r:embed="rId1"/>
          <a:stretch>
            <a:fillRect/>
          </a:stretch>
        </p:blipFill>
        <p:spPr>
          <a:xfrm>
            <a:off x="285750" y="2237105"/>
            <a:ext cx="8613140" cy="4170045"/>
          </a:xfrm>
          <a:prstGeom prst="rect">
            <a:avLst/>
          </a:prstGeom>
        </p:spPr>
      </p:pic>
      <p:sp>
        <p:nvSpPr>
          <p:cNvPr id="5" name="Text Box 4"/>
          <p:cNvSpPr txBox="1"/>
          <p:nvPr/>
        </p:nvSpPr>
        <p:spPr>
          <a:xfrm>
            <a:off x="285750" y="1594485"/>
            <a:ext cx="3048000" cy="398780"/>
          </a:xfrm>
          <a:prstGeom prst="rect">
            <a:avLst/>
          </a:prstGeom>
          <a:noFill/>
        </p:spPr>
        <p:txBody>
          <a:bodyPr wrap="square" rtlCol="0">
            <a:spAutoFit/>
          </a:bodyPr>
          <a:p>
            <a:r>
              <a:rPr lang="en-US" altLang="en-GB" sz="2000" b="1"/>
              <a:t>Health Assistant</a:t>
            </a:r>
            <a:endParaRPr lang="en-US" altLang="en-GB" sz="2000" b="1"/>
          </a:p>
        </p:txBody>
      </p:sp>
    </p:spTree>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133600"/>
            <a:ext cx="8380730" cy="3908425"/>
          </a:xfrm>
          <a:prstGeom prst="rect">
            <a:avLst/>
          </a:prstGeom>
        </p:spPr>
      </p:pic>
      <p:sp>
        <p:nvSpPr>
          <p:cNvPr id="5" name="Text Box 4"/>
          <p:cNvSpPr txBox="1"/>
          <p:nvPr/>
        </p:nvSpPr>
        <p:spPr>
          <a:xfrm>
            <a:off x="609600" y="1639570"/>
            <a:ext cx="3048000" cy="398780"/>
          </a:xfrm>
          <a:prstGeom prst="rect">
            <a:avLst/>
          </a:prstGeom>
          <a:noFill/>
        </p:spPr>
        <p:txBody>
          <a:bodyPr wrap="square" rtlCol="0">
            <a:spAutoFit/>
          </a:bodyPr>
          <a:p>
            <a:r>
              <a:rPr lang="en-US" altLang="en-GB" sz="2000" b="1"/>
              <a:t>Health Timeline</a:t>
            </a:r>
            <a:endParaRPr lang="en-US" altLang="en-GB" sz="2000" b="1"/>
          </a:p>
        </p:txBody>
      </p:sp>
    </p:spTree>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232025"/>
            <a:ext cx="8153400" cy="4210050"/>
          </a:xfrm>
          <a:prstGeom prst="rect">
            <a:avLst/>
          </a:prstGeom>
        </p:spPr>
      </p:pic>
      <p:sp>
        <p:nvSpPr>
          <p:cNvPr id="5" name="Text Box 4"/>
          <p:cNvSpPr txBox="1"/>
          <p:nvPr/>
        </p:nvSpPr>
        <p:spPr>
          <a:xfrm>
            <a:off x="664210" y="1639570"/>
            <a:ext cx="3048000" cy="398780"/>
          </a:xfrm>
          <a:prstGeom prst="rect">
            <a:avLst/>
          </a:prstGeom>
          <a:noFill/>
        </p:spPr>
        <p:txBody>
          <a:bodyPr wrap="square" rtlCol="0">
            <a:spAutoFit/>
          </a:bodyPr>
          <a:p>
            <a:r>
              <a:rPr lang="en-US" altLang="en-GB" sz="2000" b="1"/>
              <a:t>Medical Encyclopedia</a:t>
            </a:r>
            <a:endParaRPr lang="en-US" altLang="en-GB" sz="2000" b="1"/>
          </a:p>
        </p:txBody>
      </p:sp>
    </p:spTree>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195195"/>
            <a:ext cx="8153400" cy="4374515"/>
          </a:xfrm>
          <a:prstGeom prst="rect">
            <a:avLst/>
          </a:prstGeom>
        </p:spPr>
      </p:pic>
      <p:sp>
        <p:nvSpPr>
          <p:cNvPr id="5" name="Text Box 4"/>
          <p:cNvSpPr txBox="1"/>
          <p:nvPr/>
        </p:nvSpPr>
        <p:spPr>
          <a:xfrm>
            <a:off x="635000" y="1684020"/>
            <a:ext cx="3048000" cy="398780"/>
          </a:xfrm>
          <a:prstGeom prst="rect">
            <a:avLst/>
          </a:prstGeom>
          <a:noFill/>
        </p:spPr>
        <p:txBody>
          <a:bodyPr wrap="square" rtlCol="0">
            <a:spAutoFit/>
          </a:bodyPr>
          <a:p>
            <a:r>
              <a:rPr lang="en-US" altLang="en-GB" sz="2000" b="1"/>
              <a:t>User Profile</a:t>
            </a:r>
            <a:endParaRPr lang="en-US" altLang="en-GB" sz="2000" b="1"/>
          </a:p>
        </p:txBody>
      </p:sp>
    </p:spTree>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FUTURE SCOPE</a:t>
            </a:r>
            <a:endParaRPr lang="en-US" altLang="en-GB"/>
          </a:p>
        </p:txBody>
      </p:sp>
      <p:sp>
        <p:nvSpPr>
          <p:cNvPr id="3" name="Content Placeholder 2"/>
          <p:cNvSpPr>
            <a:spLocks noGrp="1"/>
          </p:cNvSpPr>
          <p:nvPr>
            <p:ph sz="quarter" idx="1"/>
          </p:nvPr>
        </p:nvSpPr>
        <p:spPr/>
        <p:txBody>
          <a:bodyPr>
            <a:normAutofit fontScale="70000"/>
          </a:bodyPr>
          <a:p>
            <a:r>
              <a:rPr lang="en-US" altLang="en-GB"/>
              <a:t>The system can be enhanced by integrating voice-based interaction to allow users to describe symptoms through speech, improving accessibility and ease of use.</a:t>
            </a:r>
            <a:endParaRPr lang="en-US" altLang="en-GB"/>
          </a:p>
          <a:p>
            <a:r>
              <a:rPr lang="en-US" altLang="en-GB"/>
              <a:t>Advanced machine learning models can be incorporated to improve prediction accuracy and support more complex medical conditions and personalized recommendations.</a:t>
            </a:r>
            <a:endParaRPr lang="en-US" altLang="en-GB"/>
          </a:p>
          <a:p>
            <a:r>
              <a:rPr lang="en-US" altLang="en-GB"/>
              <a:t>Integration with wearable devices and real-time health monitoring systems can enable continuous tracking of patient health data.</a:t>
            </a:r>
            <a:endParaRPr lang="en-US" altLang="en-GB"/>
          </a:p>
          <a:p>
            <a:r>
              <a:rPr lang="en-US" altLang="en-GB"/>
              <a:t>The platform can be extended to include direct doctor consultation, appointment booking, and telemedicine support for complete healthcare assistance.</a:t>
            </a:r>
            <a:endParaRPr lang="en-US" altLang="en-GB"/>
          </a:p>
        </p:txBody>
      </p:sp>
    </p:spTree>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Jan 23, 2026, 04_14_09 PM"/>
          <p:cNvPicPr>
            <a:picLocks noChangeAspect="1"/>
          </p:cNvPicPr>
          <p:nvPr/>
        </p:nvPicPr>
        <p:blipFill>
          <a:blip r:embed="rId1"/>
          <a:stretch>
            <a:fillRect/>
          </a:stretch>
        </p:blipFill>
        <p:spPr>
          <a:xfrm>
            <a:off x="0"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11887</Words>
  <Application>WPS Presentation</Application>
  <PresentationFormat>On-screen Show (4:3)</PresentationFormat>
  <Paragraphs>204</Paragraphs>
  <Slides>32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32</vt:i4>
      </vt:variant>
    </vt:vector>
  </HeadingPairs>
  <TitlesOfParts>
    <vt:vector size="43" baseType="lpstr">
      <vt:lpstr>Arial</vt:lpstr>
      <vt:lpstr>SimSun</vt:lpstr>
      <vt:lpstr>Wingdings</vt:lpstr>
      <vt:lpstr>Wingdings</vt:lpstr>
      <vt:lpstr>Wingdings 2</vt:lpstr>
      <vt:lpstr>Times New Roman</vt:lpstr>
      <vt:lpstr>Tw Cen MT</vt:lpstr>
      <vt:lpstr>Microsoft YaHei</vt:lpstr>
      <vt:lpstr>Arial Unicode MS</vt:lpstr>
      <vt:lpstr>Calibri</vt:lpstr>
      <vt:lpstr>Median</vt:lpstr>
      <vt:lpstr>HygionX - Bridging Artificial Intelligence        	 &amp; Explainable Medicine</vt:lpstr>
      <vt:lpstr>OUTLINE</vt:lpstr>
      <vt:lpstr>ABSTRACT</vt:lpstr>
      <vt:lpstr>INTRODUCTION</vt:lpstr>
      <vt:lpstr>PROBLEM STATEMENT</vt:lpstr>
      <vt:lpstr>EXISTING SYSTEM</vt:lpstr>
      <vt:lpstr>DISADVANTAGES</vt:lpstr>
      <vt:lpstr> PROPOSED SYSTEM</vt:lpstr>
      <vt:lpstr>ADVANTAGES</vt:lpstr>
      <vt:lpstr>SOFTWARE REQUIREMENTS</vt:lpstr>
      <vt:lpstr>HARDWARE REQUIREMENTS</vt:lpstr>
      <vt:lpstr>SYSTEM ARCHITECTURE</vt:lpstr>
      <vt:lpstr>SYSTEM ARCHITECTURE</vt:lpstr>
      <vt:lpstr>MODULES</vt:lpstr>
      <vt:lpstr>MODULES</vt:lpstr>
      <vt:lpstr>MODULES</vt:lpstr>
      <vt:lpstr>MODULES</vt:lpstr>
      <vt:lpstr>MODULES</vt:lpstr>
      <vt:lpstr>MODULES</vt:lpstr>
      <vt:lpstr>MODULES</vt:lpstr>
      <vt:lpstr>MODULES</vt:lpstr>
      <vt:lpstr>PowerPoint 演示文稿</vt:lpstr>
      <vt:lpstr>PowerPoint 演示文稿</vt:lpstr>
      <vt:lpstr>PowerPoint 演示文稿</vt:lpstr>
      <vt:lpstr>PowerPoint 演示文稿</vt:lpstr>
      <vt:lpstr>OUTPUTS</vt:lpstr>
      <vt:lpstr>OUTPUTS</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V LAKSHMI NIHANTH</cp:lastModifiedBy>
  <cp:revision>145</cp:revision>
  <dcterms:created xsi:type="dcterms:W3CDTF">2006-08-16T00:00:00Z</dcterms:created>
  <dcterms:modified xsi:type="dcterms:W3CDTF">2026-03-20T02:35:07Z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E3CE42889A57466988D23CA1BB09469B_12</vt:lpwstr>
  </property>
  <property fmtid="{D5CDD505-2E9C-101B-9397-08002B2CF9AE}" pid="3" name="KSOProductBuildVer">
    <vt:lpwstr>2057-12.2.0.23197</vt:lpwstr>
  </property>
</Properties>
</file>